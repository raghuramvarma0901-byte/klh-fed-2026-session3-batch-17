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1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B30DB3-79BC-444E-ACAC-1794D378111F}" v="2" dt="2026-09-12T09:43:17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 varma" userId="02753b57e61d77ad" providerId="LiveId" clId="{6E9E95E4-032D-4043-990A-59269799CD06}"/>
    <pc:docChg chg="custSel addSld modSld sldOrd">
      <pc:chgData name="Raghu varma" userId="02753b57e61d77ad" providerId="LiveId" clId="{6E9E95E4-032D-4043-990A-59269799CD06}" dt="2026-09-12T09:45:50.907" v="23" actId="1076"/>
      <pc:docMkLst>
        <pc:docMk/>
      </pc:docMkLst>
      <pc:sldChg chg="modSp mod">
        <pc:chgData name="Raghu varma" userId="02753b57e61d77ad" providerId="LiveId" clId="{6E9E95E4-032D-4043-990A-59269799CD06}" dt="2026-09-12T09:45:50.907" v="23" actId="1076"/>
        <pc:sldMkLst>
          <pc:docMk/>
          <pc:sldMk cId="0" sldId="257"/>
        </pc:sldMkLst>
        <pc:spChg chg="mod">
          <ac:chgData name="Raghu varma" userId="02753b57e61d77ad" providerId="LiveId" clId="{6E9E95E4-032D-4043-990A-59269799CD06}" dt="2026-09-12T09:45:50.907" v="23" actId="1076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new mod ord">
        <pc:chgData name="Raghu varma" userId="02753b57e61d77ad" providerId="LiveId" clId="{6E9E95E4-032D-4043-990A-59269799CD06}" dt="2026-09-12T09:44:29.390" v="22" actId="478"/>
        <pc:sldMkLst>
          <pc:docMk/>
          <pc:sldMk cId="408632925" sldId="264"/>
        </pc:sldMkLst>
        <pc:spChg chg="add mod">
          <ac:chgData name="Raghu varma" userId="02753b57e61d77ad" providerId="LiveId" clId="{6E9E95E4-032D-4043-990A-59269799CD06}" dt="2026-09-12T09:44:01.742" v="19" actId="255"/>
          <ac:spMkLst>
            <pc:docMk/>
            <pc:sldMk cId="408632925" sldId="264"/>
            <ac:spMk id="2" creationId="{78CC8868-D4EC-6C0D-3BEC-BA69EA19D503}"/>
          </ac:spMkLst>
        </pc:spChg>
        <pc:spChg chg="add del mod">
          <ac:chgData name="Raghu varma" userId="02753b57e61d77ad" providerId="LiveId" clId="{6E9E95E4-032D-4043-990A-59269799CD06}" dt="2026-09-12T09:44:29.390" v="22" actId="478"/>
          <ac:spMkLst>
            <pc:docMk/>
            <pc:sldMk cId="408632925" sldId="264"/>
            <ac:spMk id="3" creationId="{4953F205-AFC1-6366-0626-10993702204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4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88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79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93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71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3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69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89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68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228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20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69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39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69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99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914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0663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63499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628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46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2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20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5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047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83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39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975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63677" y="1764890"/>
            <a:ext cx="113906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sz="3600" dirty="0"/>
              <a:t>4-Bit Synchronous Up/Down Counter</a:t>
            </a:r>
          </a:p>
          <a:p>
            <a:pPr algn="ctr">
              <a:defRPr sz="3000">
                <a:solidFill>
                  <a:srgbClr val="FFFFFF"/>
                </a:solidFill>
              </a:defRPr>
            </a:pPr>
            <a:r>
              <a:rPr sz="3600" dirty="0"/>
              <a:t>with Seven-Segment Display</a:t>
            </a:r>
          </a:p>
          <a:p>
            <a:pPr algn="ctr">
              <a:defRPr sz="1900">
                <a:solidFill>
                  <a:srgbClr val="D2E1FF"/>
                </a:solidFill>
              </a:defRPr>
            </a:pPr>
            <a:r>
              <a:rPr sz="3600" dirty="0"/>
              <a:t>Design and Simulation  •  Project Batch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29" y="5319251"/>
            <a:ext cx="12191695" cy="153874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PRESENTED BY: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1.2620090046-DAIVANSH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2.2620090074-SUSHANTH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3.2620090112-RAGHURAM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r>
              <a:rPr lang="en-IN" sz="1400" dirty="0"/>
              <a:t>4.2620090123-HARSHITHA</a:t>
            </a:r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sz="1200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sz="1200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  <a:p>
            <a:pPr algn="ctr">
              <a:defRPr sz="2600" b="1">
                <a:solidFill>
                  <a:srgbClr val="192A56"/>
                </a:solidFill>
              </a:defRPr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20040"/>
            <a:ext cx="68484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rPr lang="en-IN" dirty="0"/>
              <a:t>INTRODUCTION ABOUT THE PROJECT: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45805" y="874038"/>
                <a:ext cx="7334865" cy="600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endParaRPr lang="en-IN" sz="3200" dirty="0">
                  <a:latin typeface="Bell MT" panose="02020503060305020303" pitchFamily="18" charset="0"/>
                </a:endParaRPr>
              </a:p>
              <a:p>
                <a:pPr lvl="0"/>
                <a:r>
                  <a:rPr lang="en-IN" sz="3200" dirty="0">
                    <a:latin typeface="Bell MT" panose="02020503060305020303" pitchFamily="18" charset="0"/>
                  </a:rPr>
                  <a:t>*A counter is a sequential circuit that counts clock pulses.</a:t>
                </a:r>
              </a:p>
              <a:p>
                <a:pPr lvl="0"/>
                <a:r>
                  <a:rPr lang="en-IN" sz="3200" dirty="0">
                    <a:latin typeface="Bell MT" panose="02020503060305020303" pitchFamily="18" charset="0"/>
                  </a:rPr>
                  <a:t>*A 4-bit counter has four outputs: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32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3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3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3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3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32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sz="3200" dirty="0">
                    <a:latin typeface="Bell MT" panose="02020503060305020303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3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3200" dirty="0">
                    <a:latin typeface="Bell MT" panose="02020503060305020303" pitchFamily="18" charset="0"/>
                  </a:rPr>
                  <a:t>.</a:t>
                </a:r>
              </a:p>
              <a:p>
                <a:pPr lvl="0"/>
                <a:r>
                  <a:rPr lang="en-IN" sz="3200" dirty="0">
                    <a:latin typeface="Bell MT" panose="02020503060305020303" pitchFamily="18" charset="0"/>
                  </a:rPr>
                  <a:t>*It can represent 16 values, from binary </a:t>
                </a:r>
                <a14:m>
                  <m:oMath xmlns:m="http://schemas.openxmlformats.org/officeDocument/2006/math">
                    <m:r>
                      <a:rPr lang="en-IN" sz="3200">
                        <a:latin typeface="Cambria Math" panose="02040503050406030204" pitchFamily="18" charset="0"/>
                      </a:rPr>
                      <m:t>0000</m:t>
                    </m:r>
                  </m:oMath>
                </a14:m>
                <a:r>
                  <a:rPr lang="en-IN" sz="3200" dirty="0">
                    <a:latin typeface="Bell MT" panose="02020503060305020303" pitchFamily="18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IN" sz="3200">
                        <a:latin typeface="Cambria Math" panose="02040503050406030204" pitchFamily="18" charset="0"/>
                      </a:rPr>
                      <m:t>1111</m:t>
                    </m:r>
                  </m:oMath>
                </a14:m>
                <a:r>
                  <a:rPr lang="en-IN" sz="3200" dirty="0">
                    <a:latin typeface="Bell MT" panose="02020503060305020303" pitchFamily="18" charset="0"/>
                  </a:rPr>
                  <a:t>, or decimal 0 to 15.</a:t>
                </a:r>
              </a:p>
              <a:p>
                <a:pPr lvl="0"/>
                <a:r>
                  <a:rPr lang="en-IN" sz="3200" dirty="0">
                    <a:latin typeface="Bell MT" panose="02020503060305020303" pitchFamily="18" charset="0"/>
                  </a:rPr>
                  <a:t>*The counter can operate in two modes:</a:t>
                </a:r>
              </a:p>
              <a:p>
                <a:pPr lvl="1"/>
                <a:r>
                  <a:rPr lang="en-IN" sz="3200" b="1" dirty="0">
                    <a:latin typeface="Bell MT" panose="02020503060305020303" pitchFamily="18" charset="0"/>
                  </a:rPr>
                  <a:t>Up mode:</a:t>
                </a:r>
                <a:r>
                  <a:rPr lang="en-IN" sz="3200" dirty="0">
                    <a:latin typeface="Bell MT" panose="02020503060305020303" pitchFamily="18" charset="0"/>
                  </a:rPr>
                  <a:t> 0 to 15</a:t>
                </a:r>
              </a:p>
              <a:p>
                <a:pPr lvl="1"/>
                <a:r>
                  <a:rPr lang="en-IN" sz="3200" b="1" dirty="0">
                    <a:latin typeface="Bell MT" panose="02020503060305020303" pitchFamily="18" charset="0"/>
                  </a:rPr>
                  <a:t>Down mode:</a:t>
                </a:r>
                <a:r>
                  <a:rPr lang="en-IN" sz="3200" dirty="0">
                    <a:latin typeface="Bell MT" panose="02020503060305020303" pitchFamily="18" charset="0"/>
                  </a:rPr>
                  <a:t> 15 to 0</a:t>
                </a:r>
              </a:p>
              <a:p>
                <a:pPr lvl="0"/>
                <a:r>
                  <a:rPr lang="en-IN" sz="3200" dirty="0">
                    <a:latin typeface="Bell MT" panose="02020503060305020303" pitchFamily="18" charset="0"/>
                  </a:rPr>
                  <a:t>*The count value is shown on a seven-segment display.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5" y="874038"/>
                <a:ext cx="7334865" cy="6001643"/>
              </a:xfrm>
              <a:prstGeom prst="rect">
                <a:avLst/>
              </a:prstGeom>
              <a:blipFill>
                <a:blip r:embed="rId2"/>
                <a:stretch>
                  <a:fillRect l="-2076" b="-23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7498079" y="1737360"/>
            <a:ext cx="3108960" cy="77724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514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971800"/>
            <a:ext cx="3108960" cy="777240"/>
          </a:xfrm>
          <a:prstGeom prst="roundRect">
            <a:avLst/>
          </a:prstGeom>
          <a:solidFill>
            <a:srgbClr val="288C5F"/>
          </a:solidFill>
          <a:ln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Counter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3749039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206240"/>
            <a:ext cx="3108960" cy="777240"/>
          </a:xfrm>
          <a:prstGeom prst="roundRect">
            <a:avLst/>
          </a:prstGeom>
          <a:solidFill>
            <a:srgbClr val="DC8228"/>
          </a:solidFill>
          <a:ln>
            <a:solidFill>
              <a:srgbClr val="DC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Batch 17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t>Main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1E1E"/>
                </a:solidFill>
              </a:defRPr>
            </a:pPr>
            <a:r>
              <a:t>Clock = WHEN  •  Up/Down = WHICH WAY  •  Synchronous =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3474720" cy="4297680"/>
          </a:xfrm>
          <a:prstGeom prst="roundRect">
            <a:avLst/>
          </a:prstGeom>
          <a:solidFill>
            <a:srgbClr val="F0F5FC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060B4"/>
                </a:solidFill>
              </a:defRPr>
            </a:pPr>
            <a:r>
              <a:t>Clock — When to Count</a:t>
            </a:r>
          </a:p>
          <a:p>
            <a:pPr>
              <a:spcBef>
                <a:spcPts val="1600"/>
              </a:spcBef>
              <a:defRPr sz="1700">
                <a:solidFill>
                  <a:srgbClr val="1E1E1E"/>
                </a:solidFill>
              </a:defRPr>
            </a:pPr>
            <a:r>
              <a:t>The clock sends repeated pulses.</a:t>
            </a:r>
            <a:br/>
            <a:r>
              <a:t>One pulse = one change in the count.</a:t>
            </a:r>
          </a:p>
          <a:p>
            <a:pPr>
              <a:spcBef>
                <a:spcPts val="2000"/>
              </a:spcBef>
              <a:defRPr sz="1800" b="1">
                <a:solidFill>
                  <a:srgbClr val="192A56"/>
                </a:solidFill>
              </a:defRPr>
            </a:pPr>
            <a:r>
              <a:t>0 → 1 → 2 →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53128" y="1554480"/>
            <a:ext cx="3474720" cy="4297680"/>
          </a:xfrm>
          <a:prstGeom prst="roundRect">
            <a:avLst/>
          </a:prstGeom>
          <a:solidFill>
            <a:srgbClr val="F0F5FC"/>
          </a:solidFill>
          <a:ln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8C5F"/>
                </a:solidFill>
              </a:defRPr>
            </a:pPr>
            <a:r>
              <a:rPr dirty="0"/>
              <a:t>Up/Down — Direction</a:t>
            </a:r>
          </a:p>
          <a:p>
            <a:pPr>
              <a:spcBef>
                <a:spcPts val="1600"/>
              </a:spcBef>
              <a:defRPr sz="1700">
                <a:solidFill>
                  <a:srgbClr val="1E1E1E"/>
                </a:solidFill>
              </a:defRPr>
            </a:pPr>
            <a:r>
              <a:rPr dirty="0"/>
              <a:t>A switch decides whether the counter increases or decreases.</a:t>
            </a:r>
          </a:p>
          <a:p>
            <a:pPr>
              <a:spcBef>
                <a:spcPts val="2000"/>
              </a:spcBef>
              <a:defRPr sz="1800" b="1">
                <a:solidFill>
                  <a:srgbClr val="192A56"/>
                </a:solidFill>
              </a:defRPr>
            </a:pPr>
            <a:r>
              <a:rPr dirty="0"/>
              <a:t>UP: 1 → 2 → 3</a:t>
            </a:r>
            <a:br>
              <a:rPr dirty="0"/>
            </a:br>
            <a:r>
              <a:rPr dirty="0"/>
              <a:t>DOWN: 3 → 2 →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11896" y="1554480"/>
            <a:ext cx="3474720" cy="4297680"/>
          </a:xfrm>
          <a:prstGeom prst="roundRect">
            <a:avLst/>
          </a:prstGeom>
          <a:solidFill>
            <a:srgbClr val="F0F5FC"/>
          </a:solidFill>
          <a:ln>
            <a:solidFill>
              <a:srgbClr val="DC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C8228"/>
                </a:solidFill>
              </a:defRPr>
            </a:pPr>
            <a:r>
              <a:t>Synchronous — Together</a:t>
            </a:r>
          </a:p>
          <a:p>
            <a:pPr>
              <a:spcBef>
                <a:spcPts val="1600"/>
              </a:spcBef>
              <a:defRPr sz="1700">
                <a:solidFill>
                  <a:srgbClr val="1E1E1E"/>
                </a:solidFill>
              </a:defRPr>
            </a:pPr>
            <a:r>
              <a:t>All four flip-flops use the same clock signal and work together.</a:t>
            </a:r>
          </a:p>
          <a:p>
            <a:pPr>
              <a:spcBef>
                <a:spcPts val="2000"/>
              </a:spcBef>
              <a:defRPr sz="1800" b="1">
                <a:solidFill>
                  <a:srgbClr val="192A56"/>
                </a:solidFill>
              </a:defRPr>
            </a:pPr>
            <a:r>
              <a:t>Same clock → all flip-flops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Batch 17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t>How the 4-Bit Counter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Q3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286000"/>
            <a:ext cx="822960" cy="82296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828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2286000"/>
            <a:ext cx="822960" cy="82296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28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Q1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286000"/>
            <a:ext cx="822960" cy="82296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828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Q0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2286000"/>
            <a:ext cx="822960" cy="82296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74720"/>
            <a:ext cx="4023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92A56"/>
                </a:solidFill>
              </a:defRPr>
            </a:pPr>
            <a:r>
              <a:t>0101₂  =  5₁₀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Batch 17  | 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94FBF3-564C-48A8-ED4D-1BED3EB81AF4}"/>
              </a:ext>
            </a:extLst>
          </p:cNvPr>
          <p:cNvSpPr txBox="1"/>
          <p:nvPr/>
        </p:nvSpPr>
        <p:spPr>
          <a:xfrm>
            <a:off x="0" y="1316394"/>
            <a:ext cx="82448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Bell MT" panose="02020503060305020303" pitchFamily="18" charset="0"/>
              </a:rPr>
              <a:t>Synchronous Up/Down Counter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In a synchronous counter, all flip-flops receive the same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clock signal.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outputs change together at the active clock edge.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A mode-control input selects the counting direction: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Bell MT" panose="02020503060305020303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Bell MT" panose="02020503060305020303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Bell MT" panose="02020503060305020303" pitchFamily="18" charset="0"/>
            </a:endParaRPr>
          </a:p>
          <a:p>
            <a:pPr>
              <a:buNone/>
            </a:pPr>
            <a:endParaRPr lang="en-IN" sz="2400" dirty="0">
              <a:latin typeface="Bell MT" panose="02020503060305020303" pitchFamily="18" charset="0"/>
            </a:endParaRPr>
          </a:p>
          <a:p>
            <a:pPr>
              <a:buNone/>
            </a:pPr>
            <a:r>
              <a:rPr lang="en-IN" sz="2400" b="1" dirty="0">
                <a:latin typeface="Bell MT" panose="02020503060305020303" pitchFamily="18" charset="0"/>
              </a:rPr>
              <a:t>Counting Sequence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Up counting: 0000, 0001, 0010, 0011, ..., 1111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Down counting: 1111, 1110, 1101, 1100, ..., 0000</a:t>
            </a:r>
          </a:p>
          <a:p>
            <a:pPr>
              <a:buNone/>
            </a:pPr>
            <a:r>
              <a:rPr lang="en-IN" sz="2400" dirty="0">
                <a:latin typeface="Bell MT" panose="02020503060305020303" pitchFamily="18" charset="0"/>
              </a:rPr>
              <a:t>A common clock makes the counter faster and avoids the delay associated with ripple counters.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40C64B9-F163-C822-FA70-90BC2311F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471698"/>
              </p:ext>
            </p:extLst>
          </p:nvPr>
        </p:nvGraphicFramePr>
        <p:xfrm>
          <a:off x="0" y="3188937"/>
          <a:ext cx="8244840" cy="1403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27006">
                  <a:extLst>
                    <a:ext uri="{9D8B030D-6E8A-4147-A177-3AD203B41FA5}">
                      <a16:colId xmlns:a16="http://schemas.microsoft.com/office/drawing/2014/main" val="3304374126"/>
                    </a:ext>
                  </a:extLst>
                </a:gridCol>
                <a:gridCol w="4117834">
                  <a:extLst>
                    <a:ext uri="{9D8B030D-6E8A-4147-A177-3AD203B41FA5}">
                      <a16:colId xmlns:a16="http://schemas.microsoft.com/office/drawing/2014/main" val="718019428"/>
                    </a:ext>
                  </a:extLst>
                </a:gridCol>
              </a:tblGrid>
              <a:tr h="46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02319"/>
                  </a:ext>
                </a:extLst>
              </a:tr>
              <a:tr h="46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 counting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047240"/>
                  </a:ext>
                </a:extLst>
              </a:tr>
              <a:tr h="467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Down counting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2503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0524C6-F8AA-4B5C-A0B7-9AD480A9CBC4}"/>
                  </a:ext>
                </a:extLst>
              </p:cNvPr>
              <p:cNvSpPr txBox="1"/>
              <p:nvPr/>
            </p:nvSpPr>
            <p:spPr>
              <a:xfrm>
                <a:off x="176981" y="324463"/>
                <a:ext cx="12015019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/>
                  <a:t>Seven-Segment Display</a:t>
                </a:r>
              </a:p>
              <a:p>
                <a:pPr lvl="0"/>
                <a:r>
                  <a:rPr lang="en-IN" sz="2400" dirty="0">
                    <a:latin typeface="Bell MT" panose="02020503060305020303" pitchFamily="18" charset="0"/>
                  </a:rPr>
                  <a:t>A seven-segment display contains seven LEDs named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sz="2400" dirty="0">
                    <a:latin typeface="Bell MT" panose="02020503060305020303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IN" sz="2400" dirty="0">
                    <a:latin typeface="Bell MT" panose="02020503060305020303" pitchFamily="18" charset="0"/>
                  </a:rPr>
                  <a:t>.</a:t>
                </a:r>
              </a:p>
              <a:p>
                <a:pPr lvl="0"/>
                <a:r>
                  <a:rPr lang="en-IN" sz="2400" dirty="0">
                    <a:latin typeface="Bell MT" panose="02020503060305020303" pitchFamily="18" charset="0"/>
                  </a:rPr>
                  <a:t>A decoder turns the required segments ON or OFF.</a:t>
                </a:r>
              </a:p>
              <a:p>
                <a:pPr lvl="0"/>
                <a:r>
                  <a:rPr lang="en-IN" sz="2400" dirty="0">
                    <a:latin typeface="Bell MT" panose="02020503060305020303" pitchFamily="18" charset="0"/>
                  </a:rPr>
                  <a:t>The 4-bit input can display hexadecimal values from 0 to F.</a:t>
                </a:r>
              </a:p>
              <a:p>
                <a:pPr lvl="0"/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0524C6-F8AA-4B5C-A0B7-9AD480A9C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81" y="324463"/>
                <a:ext cx="12015019" cy="1846659"/>
              </a:xfrm>
              <a:prstGeom prst="rect">
                <a:avLst/>
              </a:prstGeom>
              <a:blipFill>
                <a:blip r:embed="rId2"/>
                <a:stretch>
                  <a:fillRect l="-761" t="-26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59EEA2-7E88-CBF2-9F1B-89D7E38B9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32857"/>
              </p:ext>
            </p:extLst>
          </p:nvPr>
        </p:nvGraphicFramePr>
        <p:xfrm>
          <a:off x="176981" y="2078294"/>
          <a:ext cx="6656440" cy="30443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8220">
                  <a:extLst>
                    <a:ext uri="{9D8B030D-6E8A-4147-A177-3AD203B41FA5}">
                      <a16:colId xmlns:a16="http://schemas.microsoft.com/office/drawing/2014/main" val="3591600774"/>
                    </a:ext>
                  </a:extLst>
                </a:gridCol>
                <a:gridCol w="3328220">
                  <a:extLst>
                    <a:ext uri="{9D8B030D-6E8A-4147-A177-3AD203B41FA5}">
                      <a16:colId xmlns:a16="http://schemas.microsoft.com/office/drawing/2014/main" val="2395709245"/>
                    </a:ext>
                  </a:extLst>
                </a:gridCol>
              </a:tblGrid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inary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020423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4313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71802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76048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808984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150162"/>
                  </a:ext>
                </a:extLst>
              </a:tr>
              <a:tr h="434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8869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972C47-35B8-6986-3AA2-904216F34A77}"/>
              </a:ext>
            </a:extLst>
          </p:cNvPr>
          <p:cNvSpPr txBox="1"/>
          <p:nvPr/>
        </p:nvSpPr>
        <p:spPr>
          <a:xfrm>
            <a:off x="63910" y="5143571"/>
            <a:ext cx="61205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decoder has four input lines and seven output lines.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Each output line controls one segment of the display.</a:t>
            </a:r>
          </a:p>
        </p:txBody>
      </p:sp>
    </p:spTree>
    <p:extLst>
      <p:ext uri="{BB962C8B-B14F-4D97-AF65-F5344CB8AC3E}">
        <p14:creationId xmlns:p14="http://schemas.microsoft.com/office/powerpoint/2010/main" val="169448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t>Block Diagram &amp; Working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1585" y="1911078"/>
            <a:ext cx="1554480" cy="1097280"/>
          </a:xfrm>
          <a:prstGeom prst="roundRect">
            <a:avLst/>
          </a:prstGeom>
          <a:solidFill>
            <a:srgbClr val="3060B4"/>
          </a:solidFill>
          <a:ln>
            <a:solidFill>
              <a:srgbClr val="306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Clock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75152" y="1874520"/>
            <a:ext cx="2245688" cy="1097280"/>
          </a:xfrm>
          <a:prstGeom prst="roundRect">
            <a:avLst/>
          </a:prstGeom>
          <a:solidFill>
            <a:srgbClr val="288C5F"/>
          </a:solidFill>
          <a:ln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4-Bit</a:t>
            </a:r>
            <a:br>
              <a:rPr dirty="0"/>
            </a:br>
            <a:r>
              <a:rPr dirty="0"/>
              <a:t>Up/Down Counter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69227" y="1874520"/>
            <a:ext cx="1828800" cy="1097280"/>
          </a:xfrm>
          <a:prstGeom prst="roundRect">
            <a:avLst/>
          </a:prstGeom>
          <a:solidFill>
            <a:srgbClr val="DC8228"/>
          </a:solidFill>
          <a:ln>
            <a:solidFill>
              <a:srgbClr val="DC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4to7 segment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Decoder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63200" y="1810512"/>
            <a:ext cx="1828800" cy="1097280"/>
          </a:xfrm>
          <a:prstGeom prst="round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7-Segment</a:t>
            </a:r>
            <a:br>
              <a:rPr dirty="0"/>
            </a:br>
            <a:r>
              <a:rPr dirty="0"/>
              <a:t>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143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/>
            </a:pPr>
            <a:r>
              <a:t>UP /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Batch 17  |  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A9F675-87C8-33F5-5011-0C7F1269D630}"/>
              </a:ext>
            </a:extLst>
          </p:cNvPr>
          <p:cNvSpPr txBox="1"/>
          <p:nvPr/>
        </p:nvSpPr>
        <p:spPr>
          <a:xfrm>
            <a:off x="130277" y="3564381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Bell MT" panose="02020503060305020303" pitchFamily="18" charset="0"/>
              </a:rPr>
              <a:t>Circuit Operation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clock produces regular pulses.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four flip-flops store the current count.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Logic gates decide whether the next count is higher or lower.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decoder converts the 4-bit output into seven segment signals.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ell MT" panose="02020503060305020303" pitchFamily="18" charset="0"/>
              </a:rPr>
              <a:t>The display shows the current count value.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A5D63A-55A5-4521-DC82-BB64DEAFADD5}"/>
              </a:ext>
            </a:extLst>
          </p:cNvPr>
          <p:cNvSpPr/>
          <p:nvPr/>
        </p:nvSpPr>
        <p:spPr>
          <a:xfrm>
            <a:off x="5766346" y="1942212"/>
            <a:ext cx="1581517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2344A3-3768-BA88-5DAC-D5CA69F8DBCB}"/>
              </a:ext>
            </a:extLst>
          </p:cNvPr>
          <p:cNvSpPr txBox="1"/>
          <p:nvPr/>
        </p:nvSpPr>
        <p:spPr>
          <a:xfrm>
            <a:off x="5934749" y="2242852"/>
            <a:ext cx="1453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Q3,Q2,Q1,Q0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8F72291-FE2C-8D68-B1C8-5C88D3A8101A}"/>
              </a:ext>
            </a:extLst>
          </p:cNvPr>
          <p:cNvSpPr/>
          <p:nvPr/>
        </p:nvSpPr>
        <p:spPr>
          <a:xfrm>
            <a:off x="7470547" y="2335175"/>
            <a:ext cx="420330" cy="338554"/>
          </a:xfrm>
          <a:prstGeom prst="rightArrow">
            <a:avLst>
              <a:gd name="adj1" fmla="val 36816"/>
              <a:gd name="adj2" fmla="val 50000"/>
            </a:avLst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9509A77-43A6-6BF7-1330-8A7ECE2C6C02}"/>
              </a:ext>
            </a:extLst>
          </p:cNvPr>
          <p:cNvSpPr/>
          <p:nvPr/>
        </p:nvSpPr>
        <p:spPr>
          <a:xfrm>
            <a:off x="9871308" y="2279574"/>
            <a:ext cx="418611" cy="28452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D5D2B9C-1EB5-A230-FBA8-B97B98A7F719}"/>
              </a:ext>
            </a:extLst>
          </p:cNvPr>
          <p:cNvSpPr/>
          <p:nvPr/>
        </p:nvSpPr>
        <p:spPr>
          <a:xfrm>
            <a:off x="5224190" y="2329326"/>
            <a:ext cx="445090" cy="31053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CEFA42D-02AE-434D-5AAB-8ED113B4CBAA}"/>
              </a:ext>
            </a:extLst>
          </p:cNvPr>
          <p:cNvSpPr/>
          <p:nvPr/>
        </p:nvSpPr>
        <p:spPr>
          <a:xfrm>
            <a:off x="2238749" y="2340819"/>
            <a:ext cx="468000" cy="33291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CC8868-D4EC-6C0D-3BEC-BA69EA19D503}"/>
              </a:ext>
            </a:extLst>
          </p:cNvPr>
          <p:cNvSpPr txBox="1"/>
          <p:nvPr/>
        </p:nvSpPr>
        <p:spPr>
          <a:xfrm rot="10800000" flipH="1" flipV="1">
            <a:off x="62188" y="308695"/>
            <a:ext cx="121462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Bell MT" panose="02020503060305020303" pitchFamily="18" charset="0"/>
              </a:rPr>
              <a:t>Problem Statement</a:t>
            </a:r>
          </a:p>
          <a:p>
            <a:pPr lvl="0"/>
            <a:r>
              <a:rPr lang="en-IN" sz="2400">
                <a:latin typeface="Bell MT" panose="02020503060305020303" pitchFamily="18" charset="0"/>
              </a:rPr>
              <a:t>Manual observation of binary counter outputs using LEDs can be difficult.</a:t>
            </a:r>
          </a:p>
          <a:p>
            <a:pPr lvl="0"/>
            <a:r>
              <a:rPr lang="en-IN" sz="2400">
                <a:latin typeface="Bell MT" panose="02020503060305020303" pitchFamily="18" charset="0"/>
              </a:rPr>
              <a:t>In an asynchronous counter, output changes may occur at slightly different times because of propagation delay.</a:t>
            </a:r>
          </a:p>
          <a:p>
            <a:pPr lvl="0"/>
            <a:r>
              <a:rPr lang="en-IN" sz="2400">
                <a:latin typeface="Bell MT" panose="02020503060305020303" pitchFamily="18" charset="0"/>
              </a:rPr>
              <a:t>A simple circuit is required to:</a:t>
            </a:r>
          </a:p>
          <a:p>
            <a:pPr lvl="1"/>
            <a:r>
              <a:rPr lang="en-IN" sz="2400">
                <a:latin typeface="Bell MT" panose="02020503060305020303" pitchFamily="18" charset="0"/>
              </a:rPr>
              <a:t>Count in both upward and downward directions.</a:t>
            </a:r>
          </a:p>
          <a:p>
            <a:pPr lvl="1"/>
            <a:r>
              <a:rPr lang="en-IN" sz="2400">
                <a:latin typeface="Bell MT" panose="02020503060305020303" pitchFamily="18" charset="0"/>
              </a:rPr>
              <a:t>Change all flip-flop outputs at the same clock edge.</a:t>
            </a:r>
          </a:p>
          <a:p>
            <a:pPr lvl="1"/>
            <a:r>
              <a:rPr lang="en-IN" sz="2400">
                <a:latin typeface="Bell MT" panose="02020503060305020303" pitchFamily="18" charset="0"/>
              </a:rPr>
              <a:t>Display the count in an easy-to-read format.</a:t>
            </a:r>
          </a:p>
          <a:p>
            <a:pPr lvl="1"/>
            <a:r>
              <a:rPr lang="en-IN" sz="2400">
                <a:latin typeface="Bell MT" panose="02020503060305020303" pitchFamily="18" charset="0"/>
              </a:rPr>
              <a:t>Verify the design through simulation.</a:t>
            </a:r>
          </a:p>
          <a:p>
            <a:r>
              <a:rPr lang="en-IN" sz="2400" b="1">
                <a:latin typeface="Bell MT" panose="02020503060305020303" pitchFamily="18" charset="0"/>
              </a:rPr>
              <a:t>Problem Definition</a:t>
            </a:r>
          </a:p>
          <a:p>
            <a:r>
              <a:rPr lang="en-IN" sz="2400">
                <a:latin typeface="Bell MT" panose="02020503060305020303" pitchFamily="18" charset="0"/>
              </a:rPr>
              <a:t>To design and simulate a 4-bit synchronous binary up/down counter in Logisim and display its output using a seven-segment display.</a:t>
            </a:r>
          </a:p>
        </p:txBody>
      </p:sp>
    </p:spTree>
    <p:extLst>
      <p:ext uri="{BB962C8B-B14F-4D97-AF65-F5344CB8AC3E}">
        <p14:creationId xmlns:p14="http://schemas.microsoft.com/office/powerpoint/2010/main" val="40863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A56"/>
                </a:solidFill>
              </a:defRPr>
            </a:pPr>
            <a:r>
              <a:t>Applications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7737"/>
            <a:ext cx="484632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Bell MT" panose="02020503060305020303" pitchFamily="18" charset="0"/>
              </a:rPr>
              <a:t>Simulation Steps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*Connect four flip-flops to a common clock.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*Add the up/down control switch.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Connect the counter outputs to the seven-segment decoder.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*Apply the reset signal to start at 0000.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*Select up mode and apply clock pulses.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*Observe the display counting from 0 to F.</a:t>
            </a:r>
          </a:p>
          <a:p>
            <a:pPr lvl="0"/>
            <a:r>
              <a:rPr lang="en-IN" sz="2400" dirty="0">
                <a:latin typeface="Bell MT" panose="02020503060305020303" pitchFamily="18" charset="0"/>
              </a:rPr>
              <a:t>*Select down mode and observe the display counting from F to 0.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Batch 17  | 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41FAD8-B27E-4D66-38F2-BEF4F3B426CD}"/>
              </a:ext>
            </a:extLst>
          </p:cNvPr>
          <p:cNvSpPr/>
          <p:nvPr/>
        </p:nvSpPr>
        <p:spPr>
          <a:xfrm>
            <a:off x="1435510" y="786581"/>
            <a:ext cx="9832258" cy="5338916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69835-4E99-5A84-87AE-05E65D4E95D1}"/>
              </a:ext>
            </a:extLst>
          </p:cNvPr>
          <p:cNvSpPr txBox="1"/>
          <p:nvPr/>
        </p:nvSpPr>
        <p:spPr>
          <a:xfrm>
            <a:off x="1956619" y="1219200"/>
            <a:ext cx="8937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</a:t>
            </a:r>
            <a:r>
              <a:rPr lang="en-IN" sz="3600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D0277-27C5-5B87-136B-B16F4A4331D1}"/>
              </a:ext>
            </a:extLst>
          </p:cNvPr>
          <p:cNvSpPr txBox="1"/>
          <p:nvPr/>
        </p:nvSpPr>
        <p:spPr>
          <a:xfrm>
            <a:off x="2890683" y="2536722"/>
            <a:ext cx="7580671" cy="314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E1E1E"/>
                </a:solidFill>
              </a:defRPr>
            </a:pPr>
            <a:r>
              <a:rPr lang="en-US" sz="3600" dirty="0"/>
              <a:t>This project shows how clock signals, flip-flops, binary counting and a seven-segment display work together to create a simple digital counting system.</a:t>
            </a:r>
          </a:p>
          <a:p>
            <a:pPr>
              <a:spcBef>
                <a:spcPts val="2200"/>
              </a:spcBef>
              <a:defRPr sz="2400" b="1">
                <a:solidFill>
                  <a:srgbClr val="288C5F"/>
                </a:solidFill>
              </a:defRPr>
            </a:pPr>
            <a:r>
              <a:rPr lang="en-US" sz="3600" dirty="0"/>
              <a:t>Clock → Count → Display</a:t>
            </a:r>
          </a:p>
        </p:txBody>
      </p:sp>
    </p:spTree>
    <p:extLst>
      <p:ext uri="{BB962C8B-B14F-4D97-AF65-F5344CB8AC3E}">
        <p14:creationId xmlns:p14="http://schemas.microsoft.com/office/powerpoint/2010/main" val="1746734063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694</Words>
  <Application>Microsoft Office PowerPoint</Application>
  <PresentationFormat>Widescreen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Bell MT</vt:lpstr>
      <vt:lpstr>Book Antiqua</vt:lpstr>
      <vt:lpstr>Cambria Math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Raghu varma</dc:creator>
  <cp:keywords/>
  <dc:description>generated using python-pptx</dc:description>
  <cp:lastModifiedBy>Raghu varma</cp:lastModifiedBy>
  <cp:revision>3</cp:revision>
  <dcterms:created xsi:type="dcterms:W3CDTF">2013-01-27T09:14:16Z</dcterms:created>
  <dcterms:modified xsi:type="dcterms:W3CDTF">2026-09-12T09:45:55Z</dcterms:modified>
  <cp:category/>
</cp:coreProperties>
</file>